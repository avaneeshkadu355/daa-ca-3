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BFS and DFS are the two fundamental ways to systematically visit every vertex of a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graph, vertex, edge and traversal. Mention the four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BFS explores level by level using a queue. Dashed edge E-F is not used by the BFS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DFS goes deep first. D is a dead end so we backtrack to B and take E. Edge A-C is never used because C is reached through 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run in O(V + E) with an adjacency list. Stress the shortest-path guarantee applies to unweighted graphs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2011680" cy="2011680"/>
          </a:xfrm>
          <a:prstGeom prst="ellipse">
            <a:avLst/>
          </a:prstGeom>
          <a:solidFill>
            <a:srgbClr val="2F6BFF">
              <a:alpha val="12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85800"/>
            <a:ext cx="73152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Using BFS and DFS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(DAA)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97480" y="292608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0A1128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(DFS)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Avaneesh Kadu  |  PRN: 25070521258  |  E1/3rd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74920" y="54864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11" name="Edge AB"/>
          <p:cNvSpPr/>
          <p:nvPr/>
        </p:nvSpPr>
        <p:spPr>
          <a:xfrm flipV="1">
            <a:off x="6163056" y="1307592"/>
            <a:ext cx="1051560" cy="105156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2" name="Edge AC"/>
          <p:cNvSpPr/>
          <p:nvPr/>
        </p:nvSpPr>
        <p:spPr>
          <a:xfrm>
            <a:off x="7214616" y="1307592"/>
            <a:ext cx="1051560" cy="105156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3" name="Edge BD"/>
          <p:cNvSpPr/>
          <p:nvPr/>
        </p:nvSpPr>
        <p:spPr>
          <a:xfrm flipV="1">
            <a:off x="5532120" y="2359152"/>
            <a:ext cx="630936" cy="126187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4" name="Edge BE"/>
          <p:cNvSpPr/>
          <p:nvPr/>
        </p:nvSpPr>
        <p:spPr>
          <a:xfrm>
            <a:off x="6163056" y="2359152"/>
            <a:ext cx="630936" cy="126187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5" name="Edge CF"/>
          <p:cNvSpPr/>
          <p:nvPr/>
        </p:nvSpPr>
        <p:spPr>
          <a:xfrm>
            <a:off x="8266176" y="2359152"/>
            <a:ext cx="0" cy="126187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6" name="Edge EF"/>
          <p:cNvSpPr/>
          <p:nvPr/>
        </p:nvSpPr>
        <p:spPr>
          <a:xfrm>
            <a:off x="6793992" y="3621024"/>
            <a:ext cx="1472184" cy="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7" name="Vertex A"/>
          <p:cNvSpPr/>
          <p:nvPr/>
        </p:nvSpPr>
        <p:spPr>
          <a:xfrm>
            <a:off x="6930695" y="1023671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Vertex B"/>
          <p:cNvSpPr/>
          <p:nvPr/>
        </p:nvSpPr>
        <p:spPr>
          <a:xfrm>
            <a:off x="5879135" y="2075231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Vertex C"/>
          <p:cNvSpPr/>
          <p:nvPr/>
        </p:nvSpPr>
        <p:spPr>
          <a:xfrm>
            <a:off x="7982255" y="2075231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Vertex D"/>
          <p:cNvSpPr/>
          <p:nvPr/>
        </p:nvSpPr>
        <p:spPr>
          <a:xfrm>
            <a:off x="5248199" y="3337103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Vertex E"/>
          <p:cNvSpPr/>
          <p:nvPr/>
        </p:nvSpPr>
        <p:spPr>
          <a:xfrm>
            <a:off x="6510071" y="3337103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2" name="Vertex F"/>
          <p:cNvSpPr/>
          <p:nvPr/>
        </p:nvSpPr>
        <p:spPr>
          <a:xfrm>
            <a:off x="7982255" y="3337103"/>
            <a:ext cx="567842" cy="567842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  |  V = {A, B, C, D, E, F}  |  E = 6 edges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Graph Traversal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G = (V, E) is a set of vertices (nodes) joined by edges.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means visiting every reachable vertex systematically, exactly once.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visited marker prevents infinite loops when the graph has cycles.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is the foundation of many graph algorithms.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0" y="10972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8" name="Edge AB"/>
          <p:cNvSpPr/>
          <p:nvPr/>
        </p:nvSpPr>
        <p:spPr>
          <a:xfrm flipV="1">
            <a:off x="6419088" y="1426464"/>
            <a:ext cx="822960" cy="82296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9" name="Edge AC"/>
          <p:cNvSpPr/>
          <p:nvPr/>
        </p:nvSpPr>
        <p:spPr>
          <a:xfrm>
            <a:off x="7242048" y="1426464"/>
            <a:ext cx="822960" cy="82296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0" name="Edge BD"/>
          <p:cNvSpPr/>
          <p:nvPr/>
        </p:nvSpPr>
        <p:spPr>
          <a:xfrm flipV="1">
            <a:off x="5925312" y="2249424"/>
            <a:ext cx="493776" cy="98755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1" name="Edge BE"/>
          <p:cNvSpPr/>
          <p:nvPr/>
        </p:nvSpPr>
        <p:spPr>
          <a:xfrm>
            <a:off x="6419088" y="2249424"/>
            <a:ext cx="493776" cy="98755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2" name="Edge CF"/>
          <p:cNvSpPr/>
          <p:nvPr/>
        </p:nvSpPr>
        <p:spPr>
          <a:xfrm>
            <a:off x="8065008" y="2249424"/>
            <a:ext cx="0" cy="987552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3" name="Edge EF"/>
          <p:cNvSpPr/>
          <p:nvPr/>
        </p:nvSpPr>
        <p:spPr>
          <a:xfrm>
            <a:off x="6912864" y="3236976"/>
            <a:ext cx="1152144" cy="0"/>
          </a:xfrm>
          <a:prstGeom prst="line">
            <a:avLst/>
          </a:prstGeom>
          <a:noFill/>
          <a:ln w="25400">
            <a:solidFill>
              <a:srgbClr val="6C8CFF"/>
            </a:solidFill>
            <a:prstDash val="solid"/>
          </a:ln>
        </p:spPr>
      </p:sp>
      <p:sp>
        <p:nvSpPr>
          <p:cNvPr id="14" name="Vertex A"/>
          <p:cNvSpPr/>
          <p:nvPr/>
        </p:nvSpPr>
        <p:spPr>
          <a:xfrm>
            <a:off x="7019849" y="1204265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Vertex B"/>
          <p:cNvSpPr/>
          <p:nvPr/>
        </p:nvSpPr>
        <p:spPr>
          <a:xfrm>
            <a:off x="6196889" y="2027225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Vertex C"/>
          <p:cNvSpPr/>
          <p:nvPr/>
        </p:nvSpPr>
        <p:spPr>
          <a:xfrm>
            <a:off x="7842809" y="2027225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Vertex D"/>
          <p:cNvSpPr/>
          <p:nvPr/>
        </p:nvSpPr>
        <p:spPr>
          <a:xfrm>
            <a:off x="5703113" y="3014777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8" name="Vertex E"/>
          <p:cNvSpPr/>
          <p:nvPr/>
        </p:nvSpPr>
        <p:spPr>
          <a:xfrm>
            <a:off x="6690665" y="3014777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19" name="Vertex F"/>
          <p:cNvSpPr/>
          <p:nvPr/>
        </p:nvSpPr>
        <p:spPr>
          <a:xfrm>
            <a:off x="7842809" y="3014777"/>
            <a:ext cx="444398" cy="444398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1325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02168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13632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exploration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514600" y="3913632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0" y="3913632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crawling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3913632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checking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vertex: A   |   Neighbours visited in alphabetical order   |   Data structure: FIFO queue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Mark start visited; enqueue it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while queue is not empty: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 v = dequeue(); visit v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 for each unvisited neighbour w of v: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   mark w visited; enqueue(w)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5292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11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" y="2880360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paths: BFS finds fewest-edge paths in unweighted graphs (or equal-weight edges), not in arbitrary weighted graphs.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13" name="Edge AB"/>
          <p:cNvSpPr/>
          <p:nvPr/>
        </p:nvSpPr>
        <p:spPr>
          <a:xfrm flipV="1">
            <a:off x="6222492" y="1453896"/>
            <a:ext cx="777240" cy="77724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4" name="Edge AC"/>
          <p:cNvSpPr/>
          <p:nvPr/>
        </p:nvSpPr>
        <p:spPr>
          <a:xfrm>
            <a:off x="6999732" y="1453896"/>
            <a:ext cx="777240" cy="77724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5" name="Edge BD"/>
          <p:cNvSpPr/>
          <p:nvPr/>
        </p:nvSpPr>
        <p:spPr>
          <a:xfrm flipV="1">
            <a:off x="5756148" y="2231136"/>
            <a:ext cx="466344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6" name="Edge BE"/>
          <p:cNvSpPr/>
          <p:nvPr/>
        </p:nvSpPr>
        <p:spPr>
          <a:xfrm>
            <a:off x="6222492" y="2231136"/>
            <a:ext cx="466344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7" name="Edge CF"/>
          <p:cNvSpPr/>
          <p:nvPr/>
        </p:nvSpPr>
        <p:spPr>
          <a:xfrm>
            <a:off x="7776972" y="2231136"/>
            <a:ext cx="0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8" name="Edge EF"/>
          <p:cNvSpPr/>
          <p:nvPr/>
        </p:nvSpPr>
        <p:spPr>
          <a:xfrm>
            <a:off x="6688836" y="3163824"/>
            <a:ext cx="1088136" cy="0"/>
          </a:xfrm>
          <a:prstGeom prst="line">
            <a:avLst/>
          </a:prstGeom>
          <a:noFill/>
          <a:ln w="19050">
            <a:solidFill>
              <a:srgbClr val="4A5E8F"/>
            </a:solidFill>
            <a:prstDash val="dash"/>
          </a:ln>
        </p:spPr>
      </p:sp>
      <p:sp>
        <p:nvSpPr>
          <p:cNvPr id="19" name="Vertex A"/>
          <p:cNvSpPr/>
          <p:nvPr/>
        </p:nvSpPr>
        <p:spPr>
          <a:xfrm>
            <a:off x="6789877" y="124404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Order 1"/>
          <p:cNvSpPr/>
          <p:nvPr/>
        </p:nvSpPr>
        <p:spPr>
          <a:xfrm>
            <a:off x="7115152" y="117059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Vertex B"/>
          <p:cNvSpPr/>
          <p:nvPr/>
        </p:nvSpPr>
        <p:spPr>
          <a:xfrm>
            <a:off x="6012637" y="202128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Order 2"/>
          <p:cNvSpPr/>
          <p:nvPr/>
        </p:nvSpPr>
        <p:spPr>
          <a:xfrm>
            <a:off x="6337912" y="194783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Vertex C"/>
          <p:cNvSpPr/>
          <p:nvPr/>
        </p:nvSpPr>
        <p:spPr>
          <a:xfrm>
            <a:off x="7567117" y="202128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Order 3"/>
          <p:cNvSpPr/>
          <p:nvPr/>
        </p:nvSpPr>
        <p:spPr>
          <a:xfrm>
            <a:off x="7892392" y="194783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Vertex D"/>
          <p:cNvSpPr/>
          <p:nvPr/>
        </p:nvSpPr>
        <p:spPr>
          <a:xfrm>
            <a:off x="5546293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6" name="Order 4"/>
          <p:cNvSpPr/>
          <p:nvPr/>
        </p:nvSpPr>
        <p:spPr>
          <a:xfrm>
            <a:off x="5871568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Vertex E"/>
          <p:cNvSpPr/>
          <p:nvPr/>
        </p:nvSpPr>
        <p:spPr>
          <a:xfrm>
            <a:off x="6478981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8" name="Order 5"/>
          <p:cNvSpPr/>
          <p:nvPr/>
        </p:nvSpPr>
        <p:spPr>
          <a:xfrm>
            <a:off x="6804256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Vertex F"/>
          <p:cNvSpPr/>
          <p:nvPr/>
        </p:nvSpPr>
        <p:spPr>
          <a:xfrm>
            <a:off x="7567117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0" name="Order 6"/>
          <p:cNvSpPr/>
          <p:nvPr/>
        </p:nvSpPr>
        <p:spPr>
          <a:xfrm>
            <a:off x="7892392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order:  A → B → C → D → E → F      (levels: A | B, C | D, E, F)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Visit A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B, C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B C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764792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856232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Visit B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D, E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C D 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163824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55264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Visit C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D E F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62856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54296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Visit D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vertices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E F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61888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53328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Visit E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already queued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F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360920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52360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Visit F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vertices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empty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(DFS)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vertex: A   |   Neighbours visited in alphabetical order   |   Data structure: recursion / stack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(recursive)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DFS(v):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mark v visited; visit v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each neighbour w of v: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  if w is unvisited: DFS(w)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return  (backtrack to caller)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5292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11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" y="2880360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stack version: push start; pop v, skip if visited, visit v, push its neighbours in reverse alphabetical order.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3204A"/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13" name="Edge AB"/>
          <p:cNvSpPr/>
          <p:nvPr/>
        </p:nvSpPr>
        <p:spPr>
          <a:xfrm flipV="1">
            <a:off x="6222492" y="1453896"/>
            <a:ext cx="777240" cy="77724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4" name="Edge AC"/>
          <p:cNvSpPr/>
          <p:nvPr/>
        </p:nvSpPr>
        <p:spPr>
          <a:xfrm>
            <a:off x="6999732" y="1453896"/>
            <a:ext cx="777240" cy="777240"/>
          </a:xfrm>
          <a:prstGeom prst="line">
            <a:avLst/>
          </a:prstGeom>
          <a:noFill/>
          <a:ln w="19050">
            <a:solidFill>
              <a:srgbClr val="4A5E8F"/>
            </a:solidFill>
            <a:prstDash val="dash"/>
          </a:ln>
        </p:spPr>
      </p:sp>
      <p:sp>
        <p:nvSpPr>
          <p:cNvPr id="15" name="Edge BD"/>
          <p:cNvSpPr/>
          <p:nvPr/>
        </p:nvSpPr>
        <p:spPr>
          <a:xfrm flipV="1">
            <a:off x="5756148" y="2231136"/>
            <a:ext cx="466344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6" name="Edge BE"/>
          <p:cNvSpPr/>
          <p:nvPr/>
        </p:nvSpPr>
        <p:spPr>
          <a:xfrm>
            <a:off x="6222492" y="2231136"/>
            <a:ext cx="466344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7" name="Edge CF"/>
          <p:cNvSpPr/>
          <p:nvPr/>
        </p:nvSpPr>
        <p:spPr>
          <a:xfrm>
            <a:off x="7776972" y="2231136"/>
            <a:ext cx="0" cy="93268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8" name="Edge EF"/>
          <p:cNvSpPr/>
          <p:nvPr/>
        </p:nvSpPr>
        <p:spPr>
          <a:xfrm>
            <a:off x="6688836" y="3163824"/>
            <a:ext cx="1088136" cy="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9" name="Vertex A"/>
          <p:cNvSpPr/>
          <p:nvPr/>
        </p:nvSpPr>
        <p:spPr>
          <a:xfrm>
            <a:off x="6789877" y="124404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Order 1"/>
          <p:cNvSpPr/>
          <p:nvPr/>
        </p:nvSpPr>
        <p:spPr>
          <a:xfrm>
            <a:off x="7115152" y="117059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Vertex B"/>
          <p:cNvSpPr/>
          <p:nvPr/>
        </p:nvSpPr>
        <p:spPr>
          <a:xfrm>
            <a:off x="6012637" y="202128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Order 2"/>
          <p:cNvSpPr/>
          <p:nvPr/>
        </p:nvSpPr>
        <p:spPr>
          <a:xfrm>
            <a:off x="6337912" y="194783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Vertex C"/>
          <p:cNvSpPr/>
          <p:nvPr/>
        </p:nvSpPr>
        <p:spPr>
          <a:xfrm>
            <a:off x="7567117" y="2021281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Order 3"/>
          <p:cNvSpPr/>
          <p:nvPr/>
        </p:nvSpPr>
        <p:spPr>
          <a:xfrm>
            <a:off x="7892392" y="194783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Vertex D"/>
          <p:cNvSpPr/>
          <p:nvPr/>
        </p:nvSpPr>
        <p:spPr>
          <a:xfrm>
            <a:off x="5546293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6" name="Order 4"/>
          <p:cNvSpPr/>
          <p:nvPr/>
        </p:nvSpPr>
        <p:spPr>
          <a:xfrm>
            <a:off x="5871568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Vertex E"/>
          <p:cNvSpPr/>
          <p:nvPr/>
        </p:nvSpPr>
        <p:spPr>
          <a:xfrm>
            <a:off x="6478981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8" name="Order 5"/>
          <p:cNvSpPr/>
          <p:nvPr/>
        </p:nvSpPr>
        <p:spPr>
          <a:xfrm>
            <a:off x="6804256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Vertex F"/>
          <p:cNvSpPr/>
          <p:nvPr/>
        </p:nvSpPr>
        <p:spPr>
          <a:xfrm>
            <a:off x="7567117" y="2953969"/>
            <a:ext cx="419710" cy="41971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0" name="Order 6"/>
          <p:cNvSpPr/>
          <p:nvPr/>
        </p:nvSpPr>
        <p:spPr>
          <a:xfrm>
            <a:off x="7892392" y="288052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order:  A → B → D → E → F → C      then backtrack  C → F → E → B → 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Visit A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764792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856232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Visit B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 B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163824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55264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Visit D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D (dead end)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 B 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62856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54296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Visit E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 D → B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 B 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61888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53328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Visit F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→ F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 B E F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360920" y="3840480"/>
            <a:ext cx="1307592" cy="804672"/>
          </a:xfrm>
          <a:prstGeom prst="roundRect">
            <a:avLst>
              <a:gd name="adj" fmla="val 9091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52360" y="388620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Visit C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→ C, A visited</a:t>
            </a:r>
            <a:endParaRPr lang="en-US" sz="11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 B E F C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vs DFS: Comparison and Complexity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00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by level (nearest first)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along a branch, then backtrack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(FIFO)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(LIFO) / recursion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 (unweighted)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guaranteed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not guaranteed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frontier on wide graphs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stack on long 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path, level order, nearest neighbour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detection, topological sort,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Auxiliary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E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65760" y="35844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number of vertices, E = number of edges. Bounds assume an adjacency list and a visited structure; auxiliary space is the standard bound and can vary with representation and implementation.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4041648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F6BF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406908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suits "nearest or shortest" problems; DFS suits exploring structure (cycles, ordering, components). Same O(V + E) cost, different traversal needs.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463040"/>
            <a:ext cx="4754880" cy="4754880"/>
          </a:xfrm>
          <a:prstGeom prst="ellipse">
            <a:avLst/>
          </a:prstGeom>
          <a:solidFill>
            <a:srgbClr val="2F6BFF">
              <a:alpha val="12000"/>
            </a:srgbClr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206240"/>
            <a:ext cx="2011680" cy="201168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9144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13204A">
              <a:alpha val="80000"/>
            </a:srgbClr>
          </a:solidFill>
          <a:ln w="9525">
            <a:solidFill>
              <a:srgbClr val="4A5E8F"/>
            </a:solidFill>
            <a:prstDash val="solid"/>
          </a:ln>
        </p:spPr>
      </p:sp>
      <p:sp>
        <p:nvSpPr>
          <p:cNvPr id="5" name="Edge AB"/>
          <p:cNvSpPr/>
          <p:nvPr/>
        </p:nvSpPr>
        <p:spPr>
          <a:xfrm flipV="1">
            <a:off x="6492240" y="1417320"/>
            <a:ext cx="914400" cy="91440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6" name="Edge AC"/>
          <p:cNvSpPr/>
          <p:nvPr/>
        </p:nvSpPr>
        <p:spPr>
          <a:xfrm>
            <a:off x="7406640" y="1417320"/>
            <a:ext cx="914400" cy="914400"/>
          </a:xfrm>
          <a:prstGeom prst="line">
            <a:avLst/>
          </a:prstGeom>
          <a:noFill/>
          <a:ln w="19050">
            <a:solidFill>
              <a:srgbClr val="4A5E8F"/>
            </a:solidFill>
            <a:prstDash val="dash"/>
          </a:ln>
        </p:spPr>
      </p:sp>
      <p:sp>
        <p:nvSpPr>
          <p:cNvPr id="7" name="Edge BD"/>
          <p:cNvSpPr/>
          <p:nvPr/>
        </p:nvSpPr>
        <p:spPr>
          <a:xfrm flipV="1">
            <a:off x="5943600" y="2331720"/>
            <a:ext cx="548640" cy="109728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8" name="Edge BE"/>
          <p:cNvSpPr/>
          <p:nvPr/>
        </p:nvSpPr>
        <p:spPr>
          <a:xfrm>
            <a:off x="6492240" y="2331720"/>
            <a:ext cx="548640" cy="109728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9" name="Edge CF"/>
          <p:cNvSpPr/>
          <p:nvPr/>
        </p:nvSpPr>
        <p:spPr>
          <a:xfrm>
            <a:off x="8321040" y="2331720"/>
            <a:ext cx="0" cy="109728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0" name="Edge EF"/>
          <p:cNvSpPr/>
          <p:nvPr/>
        </p:nvSpPr>
        <p:spPr>
          <a:xfrm>
            <a:off x="7040880" y="3429000"/>
            <a:ext cx="1280160" cy="0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11" name="Vertex A"/>
          <p:cNvSpPr/>
          <p:nvPr/>
        </p:nvSpPr>
        <p:spPr>
          <a:xfrm>
            <a:off x="7159752" y="117043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2" name="Vertex B"/>
          <p:cNvSpPr/>
          <p:nvPr/>
        </p:nvSpPr>
        <p:spPr>
          <a:xfrm>
            <a:off x="6245352" y="208483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Vertex C"/>
          <p:cNvSpPr/>
          <p:nvPr/>
        </p:nvSpPr>
        <p:spPr>
          <a:xfrm>
            <a:off x="8074152" y="208483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4" name="Vertex D"/>
          <p:cNvSpPr/>
          <p:nvPr/>
        </p:nvSpPr>
        <p:spPr>
          <a:xfrm>
            <a:off x="5696712" y="318211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15" name="Vertex E"/>
          <p:cNvSpPr/>
          <p:nvPr/>
        </p:nvSpPr>
        <p:spPr>
          <a:xfrm>
            <a:off x="6793992" y="318211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700" dirty="0"/>
          </a:p>
        </p:txBody>
      </p:sp>
      <p:sp>
        <p:nvSpPr>
          <p:cNvPr id="16" name="Vertex F"/>
          <p:cNvSpPr/>
          <p:nvPr/>
        </p:nvSpPr>
        <p:spPr>
          <a:xfrm>
            <a:off x="8074152" y="3182112"/>
            <a:ext cx="493776" cy="493776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685800"/>
            <a:ext cx="73152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hank You"/>
          <p:cNvSpPr txBox="1"/>
          <p:nvPr/>
        </p:nvSpPr>
        <p:spPr>
          <a:xfrm>
            <a:off x="548640" y="8686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19" name="Questions"/>
          <p:cNvSpPr txBox="1"/>
          <p:nvPr/>
        </p:nvSpPr>
        <p:spPr>
          <a:xfrm>
            <a:off x="5486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20" name="Name"/>
          <p:cNvSpPr txBox="1"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Avaneesh Kadu</a:t>
            </a:r>
            <a:endParaRPr lang="en-US" sz="2200" dirty="0"/>
          </a:p>
        </p:txBody>
      </p:sp>
      <p:sp>
        <p:nvSpPr>
          <p:cNvPr id="21" name="PRN"/>
          <p:cNvSpPr txBox="1"/>
          <p:nvPr/>
        </p:nvSpPr>
        <p:spPr>
          <a:xfrm>
            <a:off x="548640" y="3154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25070521258</a:t>
            </a:r>
            <a:endParaRPr lang="en-US" sz="1500" dirty="0"/>
          </a:p>
        </p:txBody>
      </p:sp>
      <p:sp>
        <p:nvSpPr>
          <p:cNvPr id="22" name="Sec Sem"/>
          <p:cNvSpPr txBox="1"/>
          <p:nvPr/>
        </p:nvSpPr>
        <p:spPr>
          <a:xfrm>
            <a:off x="548640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Sec/Sem: E1/3rd</a:t>
            </a:r>
            <a:endParaRPr lang="en-US" sz="1500" dirty="0"/>
          </a:p>
        </p:txBody>
      </p:sp>
      <p:sp>
        <p:nvSpPr>
          <p:cNvPr id="23" name="Attribution"/>
          <p:cNvSpPr txBox="1"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Traversal Using BFS and DFS</dc:title>
  <dc:subject>PptxGenJS Presentation</dc:subject>
  <dc:creator>Avaneesh Kadu</dc:creator>
  <cp:lastModifiedBy>Avaneesh Kadu</cp:lastModifiedBy>
  <cp:revision>1</cp:revision>
  <dcterms:created xsi:type="dcterms:W3CDTF">2026-10-20T06:34:32Z</dcterms:created>
  <dcterms:modified xsi:type="dcterms:W3CDTF">2026-10-20T06:34:32Z</dcterms:modified>
</cp:coreProperties>
</file>